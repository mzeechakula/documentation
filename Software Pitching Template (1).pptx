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lear Sans" charset="1" panose="020B0503030202020304"/>
      <p:regular r:id="rId16"/>
    </p:embeddedFont>
    <p:embeddedFont>
      <p:font typeface="Clear Sans Bold Italics" charset="1" panose="020B0803030202090304"/>
      <p:regular r:id="rId17"/>
    </p:embeddedFont>
    <p:embeddedFont>
      <p:font typeface="Clear Sans Bold" charset="1" panose="020B08030302020203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1.bin" Type="http://schemas.openxmlformats.org/officeDocument/2006/relationships/oleObjec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544377" y="2625568"/>
            <a:ext cx="28575" cy="1400175"/>
          </a:xfrm>
          <a:prstGeom prst="line">
            <a:avLst/>
          </a:prstGeom>
          <a:ln cap="rnd" w="19050">
            <a:solidFill>
              <a:srgbClr val="9CBE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256900" y="6621309"/>
            <a:ext cx="0" cy="3153054"/>
          </a:xfrm>
          <a:prstGeom prst="line">
            <a:avLst/>
          </a:prstGeom>
          <a:ln cap="rnd" w="19050">
            <a:solidFill>
              <a:srgbClr val="9CBEB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405517" y="6675851"/>
            <a:ext cx="5612362" cy="3042891"/>
            <a:chOff x="0" y="0"/>
            <a:chExt cx="7483150" cy="40571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83150" cy="4057187"/>
            </a:xfrm>
            <a:custGeom>
              <a:avLst/>
              <a:gdLst/>
              <a:ahLst/>
              <a:cxnLst/>
              <a:rect r="r" b="b" t="t" l="l"/>
              <a:pathLst>
                <a:path h="4057187" w="7483150">
                  <a:moveTo>
                    <a:pt x="0" y="0"/>
                  </a:moveTo>
                  <a:lnTo>
                    <a:pt x="7483150" y="0"/>
                  </a:lnTo>
                  <a:lnTo>
                    <a:pt x="7483150" y="4057187"/>
                  </a:lnTo>
                  <a:lnTo>
                    <a:pt x="0" y="40571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85725"/>
              <a:ext cx="7483150" cy="39714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28"/>
                </a:lnSpc>
              </a:pPr>
              <a:r>
                <a:rPr lang="en-US" sz="3779" spc="307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Department of Computer Science, COCIS</a:t>
              </a:r>
            </a:p>
            <a:p>
              <a:pPr algn="r">
                <a:lnSpc>
                  <a:spcPts val="3628"/>
                </a:lnSpc>
              </a:pPr>
              <a:r>
                <a:rPr lang="en-US" sz="3779" spc="307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Makerere University</a:t>
              </a:r>
            </a:p>
            <a:p>
              <a:pPr algn="r">
                <a:lnSpc>
                  <a:spcPts val="3628"/>
                </a:lnSpc>
              </a:pPr>
              <a:r>
                <a:rPr lang="en-US" sz="3779" spc="307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Lecturer: Ggaliwango Marvin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99492" y="7524182"/>
            <a:ext cx="11856876" cy="2194560"/>
            <a:chOff x="0" y="0"/>
            <a:chExt cx="15809168" cy="2926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80916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5809168">
                  <a:moveTo>
                    <a:pt x="0" y="0"/>
                  </a:moveTo>
                  <a:lnTo>
                    <a:pt x="15809168" y="0"/>
                  </a:lnTo>
                  <a:lnTo>
                    <a:pt x="1580916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5809168" cy="2926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- Group Number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- Group Name (if any)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- Names &amp; University Registration Numbers of Group Members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56074" y="2616043"/>
            <a:ext cx="15170671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 i="true">
                <a:solidFill>
                  <a:srgbClr val="2E2B21"/>
                </a:solidFill>
                <a:latin typeface="Clear Sans Bold Italics"/>
                <a:ea typeface="Clear Sans Bold Italics"/>
                <a:cs typeface="Clear Sans Bold Italics"/>
                <a:sym typeface="Clear Sans Bold Italics"/>
              </a:rPr>
              <a:t>Creative Short Name of the Innovation</a:t>
            </a:r>
          </a:p>
          <a:p>
            <a:pPr algn="ctr">
              <a:lnSpc>
                <a:spcPts val="3600"/>
              </a:lnSpc>
            </a:pPr>
            <a:r>
              <a:rPr lang="en-US" b="true" sz="3000" i="true">
                <a:solidFill>
                  <a:srgbClr val="2E2B21"/>
                </a:solidFill>
                <a:latin typeface="Clear Sans Bold Italics"/>
                <a:ea typeface="Clear Sans Bold Italics"/>
                <a:cs typeface="Clear Sans Bold Italics"/>
                <a:sym typeface="Clear Sans Bold Italics"/>
              </a:rPr>
              <a:t>(Feel free to include the logo if you have one)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5060" y="0"/>
            <a:ext cx="18017880" cy="825320"/>
            <a:chOff x="0" y="0"/>
            <a:chExt cx="24023839" cy="1100426"/>
          </a:xfrm>
        </p:grpSpPr>
        <p:grpSp>
          <p:nvGrpSpPr>
            <p:cNvPr name="Group 12" id="12"/>
            <p:cNvGrpSpPr>
              <a:grpSpLocks noChangeAspect="true"/>
            </p:cNvGrpSpPr>
            <p:nvPr/>
          </p:nvGrpSpPr>
          <p:grpSpPr>
            <a:xfrm rot="0">
              <a:off x="0" y="108020"/>
              <a:ext cx="4962026" cy="992406"/>
              <a:chOff x="0" y="0"/>
              <a:chExt cx="3587266" cy="717454"/>
            </a:xfrm>
          </p:grpSpPr>
          <p:sp>
            <p:nvSpPr>
              <p:cNvPr name="Freeform 13" id="13" descr="Makerere University College of Computing &amp; Information Sciences (CoCIS)"/>
              <p:cNvSpPr/>
              <p:nvPr/>
            </p:nvSpPr>
            <p:spPr>
              <a:xfrm flipH="false" flipV="false" rot="0">
                <a:off x="0" y="0"/>
                <a:ext cx="3587242" cy="717423"/>
              </a:xfrm>
              <a:custGeom>
                <a:avLst/>
                <a:gdLst/>
                <a:ahLst/>
                <a:cxnLst/>
                <a:rect r="r" b="b" t="t" l="l"/>
                <a:pathLst>
                  <a:path h="717423" w="3587242">
                    <a:moveTo>
                      <a:pt x="0" y="0"/>
                    </a:moveTo>
                    <a:lnTo>
                      <a:pt x="3587242" y="0"/>
                    </a:lnTo>
                    <a:lnTo>
                      <a:pt x="3587242" y="717423"/>
                    </a:lnTo>
                    <a:lnTo>
                      <a:pt x="0" y="71742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0" b="-4"/>
                </a:stretch>
              </a:blipFill>
            </p:spPr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8577181" y="201166"/>
              <a:ext cx="1216262" cy="596271"/>
            </a:xfrm>
            <a:custGeom>
              <a:avLst/>
              <a:gdLst/>
              <a:ahLst/>
              <a:cxnLst/>
              <a:rect r="r" b="b" t="t" l="l"/>
              <a:pathLst>
                <a:path h="596271" w="1216262">
                  <a:moveTo>
                    <a:pt x="0" y="0"/>
                  </a:moveTo>
                  <a:lnTo>
                    <a:pt x="1216262" y="0"/>
                  </a:lnTo>
                  <a:lnTo>
                    <a:pt x="1216262" y="596271"/>
                  </a:lnTo>
                  <a:lnTo>
                    <a:pt x="0" y="596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551" r="0" b="-79426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9812079" y="227483"/>
              <a:ext cx="809382" cy="623574"/>
            </a:xfrm>
            <a:custGeom>
              <a:avLst/>
              <a:gdLst/>
              <a:ahLst/>
              <a:cxnLst/>
              <a:rect r="r" b="b" t="t" l="l"/>
              <a:pathLst>
                <a:path h="623574" w="809382">
                  <a:moveTo>
                    <a:pt x="0" y="0"/>
                  </a:moveTo>
                  <a:lnTo>
                    <a:pt x="809382" y="0"/>
                  </a:lnTo>
                  <a:lnTo>
                    <a:pt x="809382" y="623574"/>
                  </a:lnTo>
                  <a:lnTo>
                    <a:pt x="0" y="623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79734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877126" y="201166"/>
              <a:ext cx="1260816" cy="824969"/>
            </a:xfrm>
            <a:custGeom>
              <a:avLst/>
              <a:gdLst/>
              <a:ahLst/>
              <a:cxnLst/>
              <a:rect r="r" b="b" t="t" l="l"/>
              <a:pathLst>
                <a:path h="824969" w="1260816">
                  <a:moveTo>
                    <a:pt x="0" y="0"/>
                  </a:moveTo>
                  <a:lnTo>
                    <a:pt x="1260816" y="0"/>
                  </a:lnTo>
                  <a:lnTo>
                    <a:pt x="1260816" y="824969"/>
                  </a:lnTo>
                  <a:lnTo>
                    <a:pt x="0" y="824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873" r="0" b="-25279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2523407" y="0"/>
              <a:ext cx="1500433" cy="998603"/>
            </a:xfrm>
            <a:custGeom>
              <a:avLst/>
              <a:gdLst/>
              <a:ahLst/>
              <a:cxnLst/>
              <a:rect r="r" b="b" t="t" l="l"/>
              <a:pathLst>
                <a:path h="998603" w="1500433">
                  <a:moveTo>
                    <a:pt x="0" y="0"/>
                  </a:moveTo>
                  <a:lnTo>
                    <a:pt x="1500432" y="0"/>
                  </a:lnTo>
                  <a:lnTo>
                    <a:pt x="1500432" y="998603"/>
                  </a:lnTo>
                  <a:lnTo>
                    <a:pt x="0" y="998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208" r="0" b="-37044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572952" y="4186575"/>
            <a:ext cx="1517067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 i="true">
                <a:solidFill>
                  <a:srgbClr val="2E2B21"/>
                </a:solidFill>
                <a:latin typeface="Clear Sans Bold Italics"/>
                <a:ea typeface="Clear Sans Bold Italics"/>
                <a:cs typeface="Clear Sans Bold Italics"/>
                <a:sym typeface="Clear Sans Bold Italics"/>
              </a:rPr>
              <a:t>Tip: Keep it visually clean with your logo or a key image.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9953" y="4700925"/>
            <a:ext cx="16569347" cy="332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1"/>
              </a:lnSpc>
            </a:pPr>
            <a:r>
              <a:rPr lang="en-US" b="true" sz="2184" i="true">
                <a:solidFill>
                  <a:srgbClr val="DC261C"/>
                </a:solidFill>
                <a:latin typeface="Clear Sans Bold Italics"/>
                <a:ea typeface="Clear Sans Bold Italics"/>
                <a:cs typeface="Clear Sans Bold Italics"/>
                <a:sym typeface="Clear Sans Bold Italics"/>
              </a:rPr>
              <a:t>Note: Remember this is just a template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329851">
            <a:off x="442767" y="1915761"/>
            <a:ext cx="1400467" cy="0"/>
          </a:xfrm>
          <a:prstGeom prst="line">
            <a:avLst/>
          </a:prstGeom>
          <a:ln cap="rnd" w="19050">
            <a:solidFill>
              <a:srgbClr val="9CBEB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43841" y="825320"/>
            <a:ext cx="14580108" cy="2249424"/>
            <a:chOff x="0" y="0"/>
            <a:chExt cx="19440144" cy="29992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40144" cy="2999232"/>
            </a:xfrm>
            <a:custGeom>
              <a:avLst/>
              <a:gdLst/>
              <a:ahLst/>
              <a:cxnLst/>
              <a:rect r="r" b="b" t="t" l="l"/>
              <a:pathLst>
                <a:path h="2999232" w="19440144">
                  <a:moveTo>
                    <a:pt x="0" y="0"/>
                  </a:moveTo>
                  <a:lnTo>
                    <a:pt x="19440144" y="0"/>
                  </a:lnTo>
                  <a:lnTo>
                    <a:pt x="19440144" y="2999232"/>
                  </a:lnTo>
                  <a:lnTo>
                    <a:pt x="0" y="2999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4775"/>
              <a:ext cx="19440144" cy="2894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5000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Problem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5060" y="0"/>
            <a:ext cx="18017880" cy="825320"/>
            <a:chOff x="0" y="0"/>
            <a:chExt cx="24023839" cy="1100426"/>
          </a:xfrm>
        </p:grpSpPr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0">
              <a:off x="0" y="108020"/>
              <a:ext cx="4962026" cy="992406"/>
              <a:chOff x="0" y="0"/>
              <a:chExt cx="3587266" cy="717454"/>
            </a:xfrm>
          </p:grpSpPr>
          <p:sp>
            <p:nvSpPr>
              <p:cNvPr name="Freeform 8" id="8" descr="Makerere University College of Computing &amp; Information Sciences (CoCIS)"/>
              <p:cNvSpPr/>
              <p:nvPr/>
            </p:nvSpPr>
            <p:spPr>
              <a:xfrm flipH="false" flipV="false" rot="0">
                <a:off x="0" y="0"/>
                <a:ext cx="3587242" cy="717423"/>
              </a:xfrm>
              <a:custGeom>
                <a:avLst/>
                <a:gdLst/>
                <a:ahLst/>
                <a:cxnLst/>
                <a:rect r="r" b="b" t="t" l="l"/>
                <a:pathLst>
                  <a:path h="717423" w="3587242">
                    <a:moveTo>
                      <a:pt x="0" y="0"/>
                    </a:moveTo>
                    <a:lnTo>
                      <a:pt x="3587242" y="0"/>
                    </a:lnTo>
                    <a:lnTo>
                      <a:pt x="3587242" y="717423"/>
                    </a:lnTo>
                    <a:lnTo>
                      <a:pt x="0" y="71742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0" b="-4"/>
                </a:stretch>
              </a:blip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8577181" y="201166"/>
              <a:ext cx="1216262" cy="596271"/>
            </a:xfrm>
            <a:custGeom>
              <a:avLst/>
              <a:gdLst/>
              <a:ahLst/>
              <a:cxnLst/>
              <a:rect r="r" b="b" t="t" l="l"/>
              <a:pathLst>
                <a:path h="596271" w="1216262">
                  <a:moveTo>
                    <a:pt x="0" y="0"/>
                  </a:moveTo>
                  <a:lnTo>
                    <a:pt x="1216262" y="0"/>
                  </a:lnTo>
                  <a:lnTo>
                    <a:pt x="1216262" y="596271"/>
                  </a:lnTo>
                  <a:lnTo>
                    <a:pt x="0" y="596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551" r="0" b="-79426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9812079" y="227483"/>
              <a:ext cx="809382" cy="623574"/>
            </a:xfrm>
            <a:custGeom>
              <a:avLst/>
              <a:gdLst/>
              <a:ahLst/>
              <a:cxnLst/>
              <a:rect r="r" b="b" t="t" l="l"/>
              <a:pathLst>
                <a:path h="623574" w="809382">
                  <a:moveTo>
                    <a:pt x="0" y="0"/>
                  </a:moveTo>
                  <a:lnTo>
                    <a:pt x="809382" y="0"/>
                  </a:lnTo>
                  <a:lnTo>
                    <a:pt x="809382" y="623574"/>
                  </a:lnTo>
                  <a:lnTo>
                    <a:pt x="0" y="623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79734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0877126" y="201166"/>
              <a:ext cx="1260816" cy="824969"/>
            </a:xfrm>
            <a:custGeom>
              <a:avLst/>
              <a:gdLst/>
              <a:ahLst/>
              <a:cxnLst/>
              <a:rect r="r" b="b" t="t" l="l"/>
              <a:pathLst>
                <a:path h="824969" w="1260816">
                  <a:moveTo>
                    <a:pt x="0" y="0"/>
                  </a:moveTo>
                  <a:lnTo>
                    <a:pt x="1260816" y="0"/>
                  </a:lnTo>
                  <a:lnTo>
                    <a:pt x="1260816" y="824969"/>
                  </a:lnTo>
                  <a:lnTo>
                    <a:pt x="0" y="824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873" r="0" b="-25279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2523407" y="0"/>
              <a:ext cx="1500433" cy="998603"/>
            </a:xfrm>
            <a:custGeom>
              <a:avLst/>
              <a:gdLst/>
              <a:ahLst/>
              <a:cxnLst/>
              <a:rect r="r" b="b" t="t" l="l"/>
              <a:pathLst>
                <a:path h="998603" w="1500433">
                  <a:moveTo>
                    <a:pt x="0" y="0"/>
                  </a:moveTo>
                  <a:lnTo>
                    <a:pt x="1500432" y="0"/>
                  </a:lnTo>
                  <a:lnTo>
                    <a:pt x="1500432" y="998603"/>
                  </a:lnTo>
                  <a:lnTo>
                    <a:pt x="0" y="998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208" r="0" b="-3704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43841" y="3512722"/>
            <a:ext cx="14580108" cy="2250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Content:</a:t>
            </a:r>
          </a:p>
          <a:p>
            <a:pPr algn="l" marL="712470" indent="-356235" lvl="1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What’s the problem?</a:t>
            </a:r>
          </a:p>
          <a:p>
            <a:pPr algn="l" marL="712470" indent="-356235" lvl="1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Who is affected?</a:t>
            </a:r>
          </a:p>
          <a:p>
            <a:pPr algn="l" marL="712470" indent="-356235" lvl="1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Why does it matter?</a:t>
            </a:r>
          </a:p>
          <a:p>
            <a:pPr algn="l" marL="712470" indent="-356235" lvl="1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Include a relatable stat or story (especially local context).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43841" y="1950032"/>
            <a:ext cx="14189373" cy="2189141"/>
            <a:chOff x="0" y="0"/>
            <a:chExt cx="19440144" cy="29992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440144" cy="2999232"/>
            </a:xfrm>
            <a:custGeom>
              <a:avLst/>
              <a:gdLst/>
              <a:ahLst/>
              <a:cxnLst/>
              <a:rect r="r" b="b" t="t" l="l"/>
              <a:pathLst>
                <a:path h="2999232" w="19440144">
                  <a:moveTo>
                    <a:pt x="0" y="0"/>
                  </a:moveTo>
                  <a:lnTo>
                    <a:pt x="19440144" y="0"/>
                  </a:lnTo>
                  <a:lnTo>
                    <a:pt x="19440144" y="2999232"/>
                  </a:lnTo>
                  <a:lnTo>
                    <a:pt x="0" y="2999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85725"/>
              <a:ext cx="19440144" cy="29135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999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Purpose: Define the key problem you are solving.</a:t>
              </a:r>
            </a:p>
            <a:p>
              <a:pPr algn="l">
                <a:lnSpc>
                  <a:spcPts val="55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974161" y="8880684"/>
            <a:ext cx="1178779" cy="1230843"/>
          </a:xfrm>
          <a:custGeom>
            <a:avLst/>
            <a:gdLst/>
            <a:ahLst/>
            <a:cxnLst/>
            <a:rect r="r" b="b" t="t" l="l"/>
            <a:pathLst>
              <a:path h="1230843" w="1178779">
                <a:moveTo>
                  <a:pt x="0" y="0"/>
                </a:moveTo>
                <a:lnTo>
                  <a:pt x="1178779" y="0"/>
                </a:lnTo>
                <a:lnTo>
                  <a:pt x="1178779" y="1230843"/>
                </a:lnTo>
                <a:lnTo>
                  <a:pt x="0" y="12308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82164">
            <a:off x="219819" y="7765806"/>
            <a:ext cx="1874937" cy="2229756"/>
          </a:xfrm>
          <a:custGeom>
            <a:avLst/>
            <a:gdLst/>
            <a:ahLst/>
            <a:cxnLst/>
            <a:rect r="r" b="b" t="t" l="l"/>
            <a:pathLst>
              <a:path h="2229756" w="1874937">
                <a:moveTo>
                  <a:pt x="0" y="0"/>
                </a:moveTo>
                <a:lnTo>
                  <a:pt x="1874937" y="0"/>
                </a:lnTo>
                <a:lnTo>
                  <a:pt x="1874937" y="2229756"/>
                </a:lnTo>
                <a:lnTo>
                  <a:pt x="0" y="22297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-3849010" y="6312665"/>
            <a:ext cx="1517067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 i="true">
                <a:solidFill>
                  <a:srgbClr val="2E2B21"/>
                </a:solidFill>
                <a:latin typeface="Clear Sans Bold Italics"/>
                <a:ea typeface="Clear Sans Bold Italics"/>
                <a:cs typeface="Clear Sans Bold Italics"/>
                <a:sym typeface="Clear Sans Bold Italics"/>
              </a:rPr>
              <a:t>Tip: Keep it visually clean &amp; not cluttered.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329851">
            <a:off x="442767" y="1915761"/>
            <a:ext cx="1400467" cy="0"/>
          </a:xfrm>
          <a:prstGeom prst="line">
            <a:avLst/>
          </a:prstGeom>
          <a:ln cap="rnd" w="19050">
            <a:solidFill>
              <a:srgbClr val="9CBEB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43841" y="825320"/>
            <a:ext cx="14580108" cy="2249424"/>
            <a:chOff x="0" y="0"/>
            <a:chExt cx="19440144" cy="29992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40144" cy="2999232"/>
            </a:xfrm>
            <a:custGeom>
              <a:avLst/>
              <a:gdLst/>
              <a:ahLst/>
              <a:cxnLst/>
              <a:rect r="r" b="b" t="t" l="l"/>
              <a:pathLst>
                <a:path h="2999232" w="19440144">
                  <a:moveTo>
                    <a:pt x="0" y="0"/>
                  </a:moveTo>
                  <a:lnTo>
                    <a:pt x="19440144" y="0"/>
                  </a:lnTo>
                  <a:lnTo>
                    <a:pt x="19440144" y="2999232"/>
                  </a:lnTo>
                  <a:lnTo>
                    <a:pt x="0" y="2999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4775"/>
              <a:ext cx="19440144" cy="2894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5000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Solution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5060" y="0"/>
            <a:ext cx="18017880" cy="825320"/>
            <a:chOff x="0" y="0"/>
            <a:chExt cx="24023839" cy="1100426"/>
          </a:xfrm>
        </p:grpSpPr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0">
              <a:off x="0" y="108020"/>
              <a:ext cx="4962026" cy="992406"/>
              <a:chOff x="0" y="0"/>
              <a:chExt cx="3587266" cy="717454"/>
            </a:xfrm>
          </p:grpSpPr>
          <p:sp>
            <p:nvSpPr>
              <p:cNvPr name="Freeform 8" id="8" descr="Makerere University College of Computing &amp; Information Sciences (CoCIS)"/>
              <p:cNvSpPr/>
              <p:nvPr/>
            </p:nvSpPr>
            <p:spPr>
              <a:xfrm flipH="false" flipV="false" rot="0">
                <a:off x="0" y="0"/>
                <a:ext cx="3587242" cy="717423"/>
              </a:xfrm>
              <a:custGeom>
                <a:avLst/>
                <a:gdLst/>
                <a:ahLst/>
                <a:cxnLst/>
                <a:rect r="r" b="b" t="t" l="l"/>
                <a:pathLst>
                  <a:path h="717423" w="3587242">
                    <a:moveTo>
                      <a:pt x="0" y="0"/>
                    </a:moveTo>
                    <a:lnTo>
                      <a:pt x="3587242" y="0"/>
                    </a:lnTo>
                    <a:lnTo>
                      <a:pt x="3587242" y="717423"/>
                    </a:lnTo>
                    <a:lnTo>
                      <a:pt x="0" y="71742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0" b="-4"/>
                </a:stretch>
              </a:blip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8577181" y="201166"/>
              <a:ext cx="1216262" cy="596271"/>
            </a:xfrm>
            <a:custGeom>
              <a:avLst/>
              <a:gdLst/>
              <a:ahLst/>
              <a:cxnLst/>
              <a:rect r="r" b="b" t="t" l="l"/>
              <a:pathLst>
                <a:path h="596271" w="1216262">
                  <a:moveTo>
                    <a:pt x="0" y="0"/>
                  </a:moveTo>
                  <a:lnTo>
                    <a:pt x="1216262" y="0"/>
                  </a:lnTo>
                  <a:lnTo>
                    <a:pt x="1216262" y="596271"/>
                  </a:lnTo>
                  <a:lnTo>
                    <a:pt x="0" y="596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551" r="0" b="-79426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9812079" y="227483"/>
              <a:ext cx="809382" cy="623574"/>
            </a:xfrm>
            <a:custGeom>
              <a:avLst/>
              <a:gdLst/>
              <a:ahLst/>
              <a:cxnLst/>
              <a:rect r="r" b="b" t="t" l="l"/>
              <a:pathLst>
                <a:path h="623574" w="809382">
                  <a:moveTo>
                    <a:pt x="0" y="0"/>
                  </a:moveTo>
                  <a:lnTo>
                    <a:pt x="809382" y="0"/>
                  </a:lnTo>
                  <a:lnTo>
                    <a:pt x="809382" y="623574"/>
                  </a:lnTo>
                  <a:lnTo>
                    <a:pt x="0" y="623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79734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0877126" y="201166"/>
              <a:ext cx="1260816" cy="824969"/>
            </a:xfrm>
            <a:custGeom>
              <a:avLst/>
              <a:gdLst/>
              <a:ahLst/>
              <a:cxnLst/>
              <a:rect r="r" b="b" t="t" l="l"/>
              <a:pathLst>
                <a:path h="824969" w="1260816">
                  <a:moveTo>
                    <a:pt x="0" y="0"/>
                  </a:moveTo>
                  <a:lnTo>
                    <a:pt x="1260816" y="0"/>
                  </a:lnTo>
                  <a:lnTo>
                    <a:pt x="1260816" y="824969"/>
                  </a:lnTo>
                  <a:lnTo>
                    <a:pt x="0" y="824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873" r="0" b="-25279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2523407" y="0"/>
              <a:ext cx="1500433" cy="998603"/>
            </a:xfrm>
            <a:custGeom>
              <a:avLst/>
              <a:gdLst/>
              <a:ahLst/>
              <a:cxnLst/>
              <a:rect r="r" b="b" t="t" l="l"/>
              <a:pathLst>
                <a:path h="998603" w="1500433">
                  <a:moveTo>
                    <a:pt x="0" y="0"/>
                  </a:moveTo>
                  <a:lnTo>
                    <a:pt x="1500432" y="0"/>
                  </a:lnTo>
                  <a:lnTo>
                    <a:pt x="1500432" y="998603"/>
                  </a:lnTo>
                  <a:lnTo>
                    <a:pt x="0" y="998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208" r="0" b="-3704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43841" y="3512722"/>
            <a:ext cx="14580108" cy="180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Content:</a:t>
            </a:r>
          </a:p>
          <a:p>
            <a:pPr algn="l" marL="712470" indent="-356235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Describe your AI-powered or intelligent system solution.</a:t>
            </a:r>
          </a:p>
          <a:p>
            <a:pPr algn="l" marL="712470" indent="-356235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Show how it works differently or better than existing approaches.</a:t>
            </a:r>
          </a:p>
          <a:p>
            <a:pPr algn="l" marL="712470" indent="-356235" lvl="1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Mention your key features or unique value proposition.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3758970" y="9486581"/>
            <a:ext cx="1517067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 i="true">
                <a:solidFill>
                  <a:srgbClr val="2E2B21"/>
                </a:solidFill>
                <a:latin typeface="Clear Sans Bold Italics"/>
                <a:ea typeface="Clear Sans Bold Italics"/>
                <a:cs typeface="Clear Sans Bold Italics"/>
                <a:sym typeface="Clear Sans Bold Italics"/>
              </a:rPr>
              <a:t>Tip: Keep it visually clean &amp; not cluttered.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43841" y="1950032"/>
            <a:ext cx="14189373" cy="2189141"/>
            <a:chOff x="0" y="0"/>
            <a:chExt cx="19440144" cy="29992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440144" cy="2999232"/>
            </a:xfrm>
            <a:custGeom>
              <a:avLst/>
              <a:gdLst/>
              <a:ahLst/>
              <a:cxnLst/>
              <a:rect r="r" b="b" t="t" l="l"/>
              <a:pathLst>
                <a:path h="2999232" w="19440144">
                  <a:moveTo>
                    <a:pt x="0" y="0"/>
                  </a:moveTo>
                  <a:lnTo>
                    <a:pt x="19440144" y="0"/>
                  </a:lnTo>
                  <a:lnTo>
                    <a:pt x="19440144" y="2999232"/>
                  </a:lnTo>
                  <a:lnTo>
                    <a:pt x="0" y="2999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85725"/>
              <a:ext cx="19440144" cy="29135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999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Purpose: Explain how your innovation solves the problem.</a:t>
              </a:r>
            </a:p>
            <a:p>
              <a:pPr algn="l">
                <a:lnSpc>
                  <a:spcPts val="559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6974161" y="8880684"/>
            <a:ext cx="1178779" cy="1230843"/>
          </a:xfrm>
          <a:custGeom>
            <a:avLst/>
            <a:gdLst/>
            <a:ahLst/>
            <a:cxnLst/>
            <a:rect r="r" b="b" t="t" l="l"/>
            <a:pathLst>
              <a:path h="1230843" w="1178779">
                <a:moveTo>
                  <a:pt x="0" y="0"/>
                </a:moveTo>
                <a:lnTo>
                  <a:pt x="1178779" y="0"/>
                </a:lnTo>
                <a:lnTo>
                  <a:pt x="1178779" y="1230843"/>
                </a:lnTo>
                <a:lnTo>
                  <a:pt x="0" y="12308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329851">
            <a:off x="442767" y="1915761"/>
            <a:ext cx="1400467" cy="0"/>
          </a:xfrm>
          <a:prstGeom prst="line">
            <a:avLst/>
          </a:prstGeom>
          <a:ln cap="rnd" w="19050">
            <a:solidFill>
              <a:srgbClr val="9CBEB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43841" y="825320"/>
            <a:ext cx="14580108" cy="2249424"/>
            <a:chOff x="0" y="0"/>
            <a:chExt cx="19440144" cy="29992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40144" cy="2999232"/>
            </a:xfrm>
            <a:custGeom>
              <a:avLst/>
              <a:gdLst/>
              <a:ahLst/>
              <a:cxnLst/>
              <a:rect r="r" b="b" t="t" l="l"/>
              <a:pathLst>
                <a:path h="2999232" w="19440144">
                  <a:moveTo>
                    <a:pt x="0" y="0"/>
                  </a:moveTo>
                  <a:lnTo>
                    <a:pt x="19440144" y="0"/>
                  </a:lnTo>
                  <a:lnTo>
                    <a:pt x="19440144" y="2999232"/>
                  </a:lnTo>
                  <a:lnTo>
                    <a:pt x="0" y="2999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4775"/>
              <a:ext cx="19440144" cy="2894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5000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Technology &amp; Architecture 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5060" y="0"/>
            <a:ext cx="18017880" cy="825320"/>
            <a:chOff x="0" y="0"/>
            <a:chExt cx="24023839" cy="1100426"/>
          </a:xfrm>
        </p:grpSpPr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0">
              <a:off x="0" y="108020"/>
              <a:ext cx="4962026" cy="992406"/>
              <a:chOff x="0" y="0"/>
              <a:chExt cx="3587266" cy="717454"/>
            </a:xfrm>
          </p:grpSpPr>
          <p:sp>
            <p:nvSpPr>
              <p:cNvPr name="Freeform 8" id="8" descr="Makerere University College of Computing &amp; Information Sciences (CoCIS)"/>
              <p:cNvSpPr/>
              <p:nvPr/>
            </p:nvSpPr>
            <p:spPr>
              <a:xfrm flipH="false" flipV="false" rot="0">
                <a:off x="0" y="0"/>
                <a:ext cx="3587242" cy="717423"/>
              </a:xfrm>
              <a:custGeom>
                <a:avLst/>
                <a:gdLst/>
                <a:ahLst/>
                <a:cxnLst/>
                <a:rect r="r" b="b" t="t" l="l"/>
                <a:pathLst>
                  <a:path h="717423" w="3587242">
                    <a:moveTo>
                      <a:pt x="0" y="0"/>
                    </a:moveTo>
                    <a:lnTo>
                      <a:pt x="3587242" y="0"/>
                    </a:lnTo>
                    <a:lnTo>
                      <a:pt x="3587242" y="717423"/>
                    </a:lnTo>
                    <a:lnTo>
                      <a:pt x="0" y="71742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0" b="-4"/>
                </a:stretch>
              </a:blip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8577181" y="201166"/>
              <a:ext cx="1216262" cy="596271"/>
            </a:xfrm>
            <a:custGeom>
              <a:avLst/>
              <a:gdLst/>
              <a:ahLst/>
              <a:cxnLst/>
              <a:rect r="r" b="b" t="t" l="l"/>
              <a:pathLst>
                <a:path h="596271" w="1216262">
                  <a:moveTo>
                    <a:pt x="0" y="0"/>
                  </a:moveTo>
                  <a:lnTo>
                    <a:pt x="1216262" y="0"/>
                  </a:lnTo>
                  <a:lnTo>
                    <a:pt x="1216262" y="596271"/>
                  </a:lnTo>
                  <a:lnTo>
                    <a:pt x="0" y="596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551" r="0" b="-79426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9812079" y="227483"/>
              <a:ext cx="809382" cy="623574"/>
            </a:xfrm>
            <a:custGeom>
              <a:avLst/>
              <a:gdLst/>
              <a:ahLst/>
              <a:cxnLst/>
              <a:rect r="r" b="b" t="t" l="l"/>
              <a:pathLst>
                <a:path h="623574" w="809382">
                  <a:moveTo>
                    <a:pt x="0" y="0"/>
                  </a:moveTo>
                  <a:lnTo>
                    <a:pt x="809382" y="0"/>
                  </a:lnTo>
                  <a:lnTo>
                    <a:pt x="809382" y="623574"/>
                  </a:lnTo>
                  <a:lnTo>
                    <a:pt x="0" y="623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79734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0877126" y="201166"/>
              <a:ext cx="1260816" cy="824969"/>
            </a:xfrm>
            <a:custGeom>
              <a:avLst/>
              <a:gdLst/>
              <a:ahLst/>
              <a:cxnLst/>
              <a:rect r="r" b="b" t="t" l="l"/>
              <a:pathLst>
                <a:path h="824969" w="1260816">
                  <a:moveTo>
                    <a:pt x="0" y="0"/>
                  </a:moveTo>
                  <a:lnTo>
                    <a:pt x="1260816" y="0"/>
                  </a:lnTo>
                  <a:lnTo>
                    <a:pt x="1260816" y="824969"/>
                  </a:lnTo>
                  <a:lnTo>
                    <a:pt x="0" y="824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873" r="0" b="-25279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2523407" y="0"/>
              <a:ext cx="1500433" cy="998603"/>
            </a:xfrm>
            <a:custGeom>
              <a:avLst/>
              <a:gdLst/>
              <a:ahLst/>
              <a:cxnLst/>
              <a:rect r="r" b="b" t="t" l="l"/>
              <a:pathLst>
                <a:path h="998603" w="1500433">
                  <a:moveTo>
                    <a:pt x="0" y="0"/>
                  </a:moveTo>
                  <a:lnTo>
                    <a:pt x="1500432" y="0"/>
                  </a:lnTo>
                  <a:lnTo>
                    <a:pt x="1500432" y="998603"/>
                  </a:lnTo>
                  <a:lnTo>
                    <a:pt x="0" y="998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208" r="0" b="-3704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43841" y="3512722"/>
            <a:ext cx="14580108" cy="180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Content:</a:t>
            </a:r>
          </a:p>
          <a:p>
            <a:pPr algn="l" marL="712470" indent="-356235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Technologies used (e.g., Python, TensorFlow, Flutter, Firebase, etc.).</a:t>
            </a:r>
          </a:p>
          <a:p>
            <a:pPr algn="l" marL="712470" indent="-356235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Simple architecture or workflow diagram.</a:t>
            </a:r>
          </a:p>
          <a:p>
            <a:pPr algn="l" marL="712470" indent="-356235" lvl="1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Any AI models, APIs, or data sources used.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1733066" y="9419051"/>
            <a:ext cx="1517067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 i="true">
                <a:solidFill>
                  <a:srgbClr val="2E2B21"/>
                </a:solidFill>
                <a:latin typeface="Clear Sans Bold Italics"/>
                <a:ea typeface="Clear Sans Bold Italics"/>
                <a:cs typeface="Clear Sans Bold Italics"/>
                <a:sym typeface="Clear Sans Bold Italics"/>
              </a:rPr>
              <a:t>Tip: Keep the visuals simple; focus on the “intelligence” in your system.ered.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43841" y="1755903"/>
            <a:ext cx="14189373" cy="2189141"/>
            <a:chOff x="0" y="0"/>
            <a:chExt cx="19440144" cy="29992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440144" cy="2999232"/>
            </a:xfrm>
            <a:custGeom>
              <a:avLst/>
              <a:gdLst/>
              <a:ahLst/>
              <a:cxnLst/>
              <a:rect r="r" b="b" t="t" l="l"/>
              <a:pathLst>
                <a:path h="2999232" w="19440144">
                  <a:moveTo>
                    <a:pt x="0" y="0"/>
                  </a:moveTo>
                  <a:lnTo>
                    <a:pt x="19440144" y="0"/>
                  </a:lnTo>
                  <a:lnTo>
                    <a:pt x="19440144" y="2999232"/>
                  </a:lnTo>
                  <a:lnTo>
                    <a:pt x="0" y="2999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85725"/>
              <a:ext cx="19440144" cy="29135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999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Purpose: 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High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li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ght</a:t>
              </a:r>
              <a:r>
                <a:rPr lang="en-US" sz="3999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the technical foundation.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6974161" y="8880684"/>
            <a:ext cx="1178779" cy="1230843"/>
          </a:xfrm>
          <a:custGeom>
            <a:avLst/>
            <a:gdLst/>
            <a:ahLst/>
            <a:cxnLst/>
            <a:rect r="r" b="b" t="t" l="l"/>
            <a:pathLst>
              <a:path h="1230843" w="1178779">
                <a:moveTo>
                  <a:pt x="0" y="0"/>
                </a:moveTo>
                <a:lnTo>
                  <a:pt x="1178779" y="0"/>
                </a:lnTo>
                <a:lnTo>
                  <a:pt x="1178779" y="1230843"/>
                </a:lnTo>
                <a:lnTo>
                  <a:pt x="0" y="12308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329851">
            <a:off x="442767" y="1915761"/>
            <a:ext cx="1400467" cy="0"/>
          </a:xfrm>
          <a:prstGeom prst="line">
            <a:avLst/>
          </a:prstGeom>
          <a:ln cap="rnd" w="19050">
            <a:solidFill>
              <a:srgbClr val="9CBEB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43841" y="825320"/>
            <a:ext cx="14580108" cy="2249424"/>
            <a:chOff x="0" y="0"/>
            <a:chExt cx="19440144" cy="29992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40144" cy="2999232"/>
            </a:xfrm>
            <a:custGeom>
              <a:avLst/>
              <a:gdLst/>
              <a:ahLst/>
              <a:cxnLst/>
              <a:rect r="r" b="b" t="t" l="l"/>
              <a:pathLst>
                <a:path h="2999232" w="19440144">
                  <a:moveTo>
                    <a:pt x="0" y="0"/>
                  </a:moveTo>
                  <a:lnTo>
                    <a:pt x="19440144" y="0"/>
                  </a:lnTo>
                  <a:lnTo>
                    <a:pt x="19440144" y="2999232"/>
                  </a:lnTo>
                  <a:lnTo>
                    <a:pt x="0" y="2999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4775"/>
              <a:ext cx="19440144" cy="2894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5000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Business Model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5060" y="0"/>
            <a:ext cx="18017880" cy="825320"/>
            <a:chOff x="0" y="0"/>
            <a:chExt cx="24023839" cy="1100426"/>
          </a:xfrm>
        </p:grpSpPr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0">
              <a:off x="0" y="108020"/>
              <a:ext cx="4962026" cy="992406"/>
              <a:chOff x="0" y="0"/>
              <a:chExt cx="3587266" cy="717454"/>
            </a:xfrm>
          </p:grpSpPr>
          <p:sp>
            <p:nvSpPr>
              <p:cNvPr name="Freeform 8" id="8" descr="Makerere University College of Computing &amp; Information Sciences (CoCIS)"/>
              <p:cNvSpPr/>
              <p:nvPr/>
            </p:nvSpPr>
            <p:spPr>
              <a:xfrm flipH="false" flipV="false" rot="0">
                <a:off x="0" y="0"/>
                <a:ext cx="3587242" cy="717423"/>
              </a:xfrm>
              <a:custGeom>
                <a:avLst/>
                <a:gdLst/>
                <a:ahLst/>
                <a:cxnLst/>
                <a:rect r="r" b="b" t="t" l="l"/>
                <a:pathLst>
                  <a:path h="717423" w="3587242">
                    <a:moveTo>
                      <a:pt x="0" y="0"/>
                    </a:moveTo>
                    <a:lnTo>
                      <a:pt x="3587242" y="0"/>
                    </a:lnTo>
                    <a:lnTo>
                      <a:pt x="3587242" y="717423"/>
                    </a:lnTo>
                    <a:lnTo>
                      <a:pt x="0" y="71742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0" b="-4"/>
                </a:stretch>
              </a:blip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8577181" y="201166"/>
              <a:ext cx="1216262" cy="596271"/>
            </a:xfrm>
            <a:custGeom>
              <a:avLst/>
              <a:gdLst/>
              <a:ahLst/>
              <a:cxnLst/>
              <a:rect r="r" b="b" t="t" l="l"/>
              <a:pathLst>
                <a:path h="596271" w="1216262">
                  <a:moveTo>
                    <a:pt x="0" y="0"/>
                  </a:moveTo>
                  <a:lnTo>
                    <a:pt x="1216262" y="0"/>
                  </a:lnTo>
                  <a:lnTo>
                    <a:pt x="1216262" y="596271"/>
                  </a:lnTo>
                  <a:lnTo>
                    <a:pt x="0" y="596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551" r="0" b="-79426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9812079" y="227483"/>
              <a:ext cx="809382" cy="623574"/>
            </a:xfrm>
            <a:custGeom>
              <a:avLst/>
              <a:gdLst/>
              <a:ahLst/>
              <a:cxnLst/>
              <a:rect r="r" b="b" t="t" l="l"/>
              <a:pathLst>
                <a:path h="623574" w="809382">
                  <a:moveTo>
                    <a:pt x="0" y="0"/>
                  </a:moveTo>
                  <a:lnTo>
                    <a:pt x="809382" y="0"/>
                  </a:lnTo>
                  <a:lnTo>
                    <a:pt x="809382" y="623574"/>
                  </a:lnTo>
                  <a:lnTo>
                    <a:pt x="0" y="623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79734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0877126" y="201166"/>
              <a:ext cx="1260816" cy="824969"/>
            </a:xfrm>
            <a:custGeom>
              <a:avLst/>
              <a:gdLst/>
              <a:ahLst/>
              <a:cxnLst/>
              <a:rect r="r" b="b" t="t" l="l"/>
              <a:pathLst>
                <a:path h="824969" w="1260816">
                  <a:moveTo>
                    <a:pt x="0" y="0"/>
                  </a:moveTo>
                  <a:lnTo>
                    <a:pt x="1260816" y="0"/>
                  </a:lnTo>
                  <a:lnTo>
                    <a:pt x="1260816" y="824969"/>
                  </a:lnTo>
                  <a:lnTo>
                    <a:pt x="0" y="824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873" r="0" b="-25279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2523407" y="0"/>
              <a:ext cx="1500433" cy="998603"/>
            </a:xfrm>
            <a:custGeom>
              <a:avLst/>
              <a:gdLst/>
              <a:ahLst/>
              <a:cxnLst/>
              <a:rect r="r" b="b" t="t" l="l"/>
              <a:pathLst>
                <a:path h="998603" w="1500433">
                  <a:moveTo>
                    <a:pt x="0" y="0"/>
                  </a:moveTo>
                  <a:lnTo>
                    <a:pt x="1500432" y="0"/>
                  </a:lnTo>
                  <a:lnTo>
                    <a:pt x="1500432" y="998603"/>
                  </a:lnTo>
                  <a:lnTo>
                    <a:pt x="0" y="998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208" r="0" b="-3704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43841" y="3512722"/>
            <a:ext cx="14580108" cy="2250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Content:</a:t>
            </a:r>
          </a:p>
          <a:p>
            <a:pPr algn="l" marL="712470" indent="-356235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Who pays or benefits? (users, partners, organizations)</a:t>
            </a:r>
          </a:p>
          <a:p>
            <a:pPr algn="l" marL="712470" indent="-356235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Revenue stream or value exchange (subscription, freemium, sponsorship, etc.)</a:t>
            </a:r>
          </a:p>
          <a:p>
            <a:pPr algn="l" marL="712470" indent="-356235" lvl="1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Any potential partners or early adopters identified.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1733066" y="9419051"/>
            <a:ext cx="1517067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 i="true">
                <a:solidFill>
                  <a:srgbClr val="2E2B21"/>
                </a:solidFill>
                <a:latin typeface="Clear Sans Bold Italics"/>
                <a:ea typeface="Clear Sans Bold Italics"/>
                <a:cs typeface="Clear Sans Bold Italics"/>
                <a:sym typeface="Clear Sans Bold Italics"/>
              </a:rPr>
              <a:t>Tip: Keep the visuals simple; focus on the “intelligence” in your system.ered.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43841" y="1755903"/>
            <a:ext cx="14189373" cy="2189141"/>
            <a:chOff x="0" y="0"/>
            <a:chExt cx="19440144" cy="29992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440144" cy="2999232"/>
            </a:xfrm>
            <a:custGeom>
              <a:avLst/>
              <a:gdLst/>
              <a:ahLst/>
              <a:cxnLst/>
              <a:rect r="r" b="b" t="t" l="l"/>
              <a:pathLst>
                <a:path h="2999232" w="19440144">
                  <a:moveTo>
                    <a:pt x="0" y="0"/>
                  </a:moveTo>
                  <a:lnTo>
                    <a:pt x="19440144" y="0"/>
                  </a:lnTo>
                  <a:lnTo>
                    <a:pt x="19440144" y="2999232"/>
                  </a:lnTo>
                  <a:lnTo>
                    <a:pt x="0" y="2999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85725"/>
              <a:ext cx="19440144" cy="29135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999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Purpose: 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Show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h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ow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your proj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ec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 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ca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stai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i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self 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 scale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6974161" y="8880684"/>
            <a:ext cx="1178779" cy="1230843"/>
          </a:xfrm>
          <a:custGeom>
            <a:avLst/>
            <a:gdLst/>
            <a:ahLst/>
            <a:cxnLst/>
            <a:rect r="r" b="b" t="t" l="l"/>
            <a:pathLst>
              <a:path h="1230843" w="1178779">
                <a:moveTo>
                  <a:pt x="0" y="0"/>
                </a:moveTo>
                <a:lnTo>
                  <a:pt x="1178779" y="0"/>
                </a:lnTo>
                <a:lnTo>
                  <a:pt x="1178779" y="1230843"/>
                </a:lnTo>
                <a:lnTo>
                  <a:pt x="0" y="12308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329851">
            <a:off x="442767" y="1915761"/>
            <a:ext cx="1400467" cy="0"/>
          </a:xfrm>
          <a:prstGeom prst="line">
            <a:avLst/>
          </a:prstGeom>
          <a:ln cap="rnd" w="19050">
            <a:solidFill>
              <a:srgbClr val="9CBEB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43841" y="825320"/>
            <a:ext cx="14580108" cy="2249424"/>
            <a:chOff x="0" y="0"/>
            <a:chExt cx="19440144" cy="29992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40144" cy="2999232"/>
            </a:xfrm>
            <a:custGeom>
              <a:avLst/>
              <a:gdLst/>
              <a:ahLst/>
              <a:cxnLst/>
              <a:rect r="r" b="b" t="t" l="l"/>
              <a:pathLst>
                <a:path h="2999232" w="19440144">
                  <a:moveTo>
                    <a:pt x="0" y="0"/>
                  </a:moveTo>
                  <a:lnTo>
                    <a:pt x="19440144" y="0"/>
                  </a:lnTo>
                  <a:lnTo>
                    <a:pt x="19440144" y="2999232"/>
                  </a:lnTo>
                  <a:lnTo>
                    <a:pt x="0" y="2999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4775"/>
              <a:ext cx="19440144" cy="2894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5000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Future Plans &amp; The Ask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5060" y="0"/>
            <a:ext cx="18017880" cy="825320"/>
            <a:chOff x="0" y="0"/>
            <a:chExt cx="24023839" cy="1100426"/>
          </a:xfrm>
        </p:grpSpPr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0">
              <a:off x="0" y="108020"/>
              <a:ext cx="4962026" cy="992406"/>
              <a:chOff x="0" y="0"/>
              <a:chExt cx="3587266" cy="717454"/>
            </a:xfrm>
          </p:grpSpPr>
          <p:sp>
            <p:nvSpPr>
              <p:cNvPr name="Freeform 8" id="8" descr="Makerere University College of Computing &amp; Information Sciences (CoCIS)"/>
              <p:cNvSpPr/>
              <p:nvPr/>
            </p:nvSpPr>
            <p:spPr>
              <a:xfrm flipH="false" flipV="false" rot="0">
                <a:off x="0" y="0"/>
                <a:ext cx="3587242" cy="717423"/>
              </a:xfrm>
              <a:custGeom>
                <a:avLst/>
                <a:gdLst/>
                <a:ahLst/>
                <a:cxnLst/>
                <a:rect r="r" b="b" t="t" l="l"/>
                <a:pathLst>
                  <a:path h="717423" w="3587242">
                    <a:moveTo>
                      <a:pt x="0" y="0"/>
                    </a:moveTo>
                    <a:lnTo>
                      <a:pt x="3587242" y="0"/>
                    </a:lnTo>
                    <a:lnTo>
                      <a:pt x="3587242" y="717423"/>
                    </a:lnTo>
                    <a:lnTo>
                      <a:pt x="0" y="71742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0" b="-4"/>
                </a:stretch>
              </a:blip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8577181" y="201166"/>
              <a:ext cx="1216262" cy="596271"/>
            </a:xfrm>
            <a:custGeom>
              <a:avLst/>
              <a:gdLst/>
              <a:ahLst/>
              <a:cxnLst/>
              <a:rect r="r" b="b" t="t" l="l"/>
              <a:pathLst>
                <a:path h="596271" w="1216262">
                  <a:moveTo>
                    <a:pt x="0" y="0"/>
                  </a:moveTo>
                  <a:lnTo>
                    <a:pt x="1216262" y="0"/>
                  </a:lnTo>
                  <a:lnTo>
                    <a:pt x="1216262" y="596271"/>
                  </a:lnTo>
                  <a:lnTo>
                    <a:pt x="0" y="596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551" r="0" b="-79426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9812079" y="227483"/>
              <a:ext cx="809382" cy="623574"/>
            </a:xfrm>
            <a:custGeom>
              <a:avLst/>
              <a:gdLst/>
              <a:ahLst/>
              <a:cxnLst/>
              <a:rect r="r" b="b" t="t" l="l"/>
              <a:pathLst>
                <a:path h="623574" w="809382">
                  <a:moveTo>
                    <a:pt x="0" y="0"/>
                  </a:moveTo>
                  <a:lnTo>
                    <a:pt x="809382" y="0"/>
                  </a:lnTo>
                  <a:lnTo>
                    <a:pt x="809382" y="623574"/>
                  </a:lnTo>
                  <a:lnTo>
                    <a:pt x="0" y="623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79734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0877126" y="201166"/>
              <a:ext cx="1260816" cy="824969"/>
            </a:xfrm>
            <a:custGeom>
              <a:avLst/>
              <a:gdLst/>
              <a:ahLst/>
              <a:cxnLst/>
              <a:rect r="r" b="b" t="t" l="l"/>
              <a:pathLst>
                <a:path h="824969" w="1260816">
                  <a:moveTo>
                    <a:pt x="0" y="0"/>
                  </a:moveTo>
                  <a:lnTo>
                    <a:pt x="1260816" y="0"/>
                  </a:lnTo>
                  <a:lnTo>
                    <a:pt x="1260816" y="824969"/>
                  </a:lnTo>
                  <a:lnTo>
                    <a:pt x="0" y="824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873" r="0" b="-25279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2523407" y="0"/>
              <a:ext cx="1500433" cy="998603"/>
            </a:xfrm>
            <a:custGeom>
              <a:avLst/>
              <a:gdLst/>
              <a:ahLst/>
              <a:cxnLst/>
              <a:rect r="r" b="b" t="t" l="l"/>
              <a:pathLst>
                <a:path h="998603" w="1500433">
                  <a:moveTo>
                    <a:pt x="0" y="0"/>
                  </a:moveTo>
                  <a:lnTo>
                    <a:pt x="1500432" y="0"/>
                  </a:lnTo>
                  <a:lnTo>
                    <a:pt x="1500432" y="998603"/>
                  </a:lnTo>
                  <a:lnTo>
                    <a:pt x="0" y="998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208" r="0" b="-3704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43841" y="3512722"/>
            <a:ext cx="14580108" cy="2250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Content:</a:t>
            </a:r>
          </a:p>
          <a:p>
            <a:pPr algn="l" marL="712470" indent="-356235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What do you need next? (mentorship, funding, incubation, users)</a:t>
            </a:r>
          </a:p>
          <a:p>
            <a:pPr algn="l" marL="712470" indent="-356235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Your vision for growth or scaling.</a:t>
            </a:r>
          </a:p>
          <a:p>
            <a:pPr algn="l" marL="712470" indent="-356235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One powerful closing statement or quote.</a:t>
            </a:r>
          </a:p>
          <a:p>
            <a:pPr algn="l">
              <a:lnSpc>
                <a:spcPts val="3564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343841" y="1755903"/>
            <a:ext cx="14189373" cy="2189141"/>
            <a:chOff x="0" y="0"/>
            <a:chExt cx="19440144" cy="29992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440144" cy="2999232"/>
            </a:xfrm>
            <a:custGeom>
              <a:avLst/>
              <a:gdLst/>
              <a:ahLst/>
              <a:cxnLst/>
              <a:rect r="r" b="b" t="t" l="l"/>
              <a:pathLst>
                <a:path h="2999232" w="19440144">
                  <a:moveTo>
                    <a:pt x="0" y="0"/>
                  </a:moveTo>
                  <a:lnTo>
                    <a:pt x="19440144" y="0"/>
                  </a:lnTo>
                  <a:lnTo>
                    <a:pt x="19440144" y="2999232"/>
                  </a:lnTo>
                  <a:lnTo>
                    <a:pt x="0" y="2999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85725"/>
              <a:ext cx="19440144" cy="29135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999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Purpose: 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End strong with your next steps.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974161" y="8880684"/>
            <a:ext cx="1178779" cy="1230843"/>
          </a:xfrm>
          <a:custGeom>
            <a:avLst/>
            <a:gdLst/>
            <a:ahLst/>
            <a:cxnLst/>
            <a:rect r="r" b="b" t="t" l="l"/>
            <a:pathLst>
              <a:path h="1230843" w="1178779">
                <a:moveTo>
                  <a:pt x="0" y="0"/>
                </a:moveTo>
                <a:lnTo>
                  <a:pt x="1178779" y="0"/>
                </a:lnTo>
                <a:lnTo>
                  <a:pt x="1178779" y="1230843"/>
                </a:lnTo>
                <a:lnTo>
                  <a:pt x="0" y="12308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5060" y="9343706"/>
            <a:ext cx="2806442" cy="852704"/>
          </a:xfrm>
          <a:custGeom>
            <a:avLst/>
            <a:gdLst/>
            <a:ahLst/>
            <a:cxnLst/>
            <a:rect r="r" b="b" t="t" l="l"/>
            <a:pathLst>
              <a:path h="852704" w="2806442">
                <a:moveTo>
                  <a:pt x="0" y="0"/>
                </a:moveTo>
                <a:lnTo>
                  <a:pt x="2806442" y="0"/>
                </a:lnTo>
                <a:lnTo>
                  <a:pt x="2806442" y="852703"/>
                </a:lnTo>
                <a:lnTo>
                  <a:pt x="0" y="8527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48559" y="9455733"/>
            <a:ext cx="1517067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 i="true">
                <a:solidFill>
                  <a:srgbClr val="DC261C"/>
                </a:solidFill>
                <a:latin typeface="Clear Sans Bold Italics"/>
                <a:ea typeface="Clear Sans Bold Italics"/>
                <a:cs typeface="Clear Sans Bold Italics"/>
                <a:sym typeface="Clear Sans Bold Italics"/>
              </a:rPr>
              <a:t>Tip: Avoid long videos — one GIF, image, or short clip or simple walkthrough is enough.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329851">
            <a:off x="442767" y="1915761"/>
            <a:ext cx="1400467" cy="0"/>
          </a:xfrm>
          <a:prstGeom prst="line">
            <a:avLst/>
          </a:prstGeom>
          <a:ln cap="rnd" w="19050">
            <a:solidFill>
              <a:srgbClr val="9CBEB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43841" y="825320"/>
            <a:ext cx="14580108" cy="2249424"/>
            <a:chOff x="0" y="0"/>
            <a:chExt cx="19440144" cy="29992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40144" cy="2999232"/>
            </a:xfrm>
            <a:custGeom>
              <a:avLst/>
              <a:gdLst/>
              <a:ahLst/>
              <a:cxnLst/>
              <a:rect r="r" b="b" t="t" l="l"/>
              <a:pathLst>
                <a:path h="2999232" w="19440144">
                  <a:moveTo>
                    <a:pt x="0" y="0"/>
                  </a:moveTo>
                  <a:lnTo>
                    <a:pt x="19440144" y="0"/>
                  </a:lnTo>
                  <a:lnTo>
                    <a:pt x="19440144" y="2999232"/>
                  </a:lnTo>
                  <a:lnTo>
                    <a:pt x="0" y="2999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4775"/>
              <a:ext cx="19440144" cy="2894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5000" b="true">
                  <a:solidFill>
                    <a:srgbClr val="474233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Demo / Prototype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5060" y="0"/>
            <a:ext cx="18017880" cy="825320"/>
            <a:chOff x="0" y="0"/>
            <a:chExt cx="24023839" cy="1100426"/>
          </a:xfrm>
        </p:grpSpPr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0">
              <a:off x="0" y="108020"/>
              <a:ext cx="4962026" cy="992406"/>
              <a:chOff x="0" y="0"/>
              <a:chExt cx="3587266" cy="717454"/>
            </a:xfrm>
          </p:grpSpPr>
          <p:sp>
            <p:nvSpPr>
              <p:cNvPr name="Freeform 8" id="8" descr="Makerere University College of Computing &amp; Information Sciences (CoCIS)"/>
              <p:cNvSpPr/>
              <p:nvPr/>
            </p:nvSpPr>
            <p:spPr>
              <a:xfrm flipH="false" flipV="false" rot="0">
                <a:off x="0" y="0"/>
                <a:ext cx="3587242" cy="717423"/>
              </a:xfrm>
              <a:custGeom>
                <a:avLst/>
                <a:gdLst/>
                <a:ahLst/>
                <a:cxnLst/>
                <a:rect r="r" b="b" t="t" l="l"/>
                <a:pathLst>
                  <a:path h="717423" w="3587242">
                    <a:moveTo>
                      <a:pt x="0" y="0"/>
                    </a:moveTo>
                    <a:lnTo>
                      <a:pt x="3587242" y="0"/>
                    </a:lnTo>
                    <a:lnTo>
                      <a:pt x="3587242" y="717423"/>
                    </a:lnTo>
                    <a:lnTo>
                      <a:pt x="0" y="71742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0" b="-4"/>
                </a:stretch>
              </a:blip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8577181" y="201166"/>
              <a:ext cx="1216262" cy="596271"/>
            </a:xfrm>
            <a:custGeom>
              <a:avLst/>
              <a:gdLst/>
              <a:ahLst/>
              <a:cxnLst/>
              <a:rect r="r" b="b" t="t" l="l"/>
              <a:pathLst>
                <a:path h="596271" w="1216262">
                  <a:moveTo>
                    <a:pt x="0" y="0"/>
                  </a:moveTo>
                  <a:lnTo>
                    <a:pt x="1216262" y="0"/>
                  </a:lnTo>
                  <a:lnTo>
                    <a:pt x="1216262" y="596271"/>
                  </a:lnTo>
                  <a:lnTo>
                    <a:pt x="0" y="596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551" r="0" b="-79426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9812079" y="227483"/>
              <a:ext cx="809382" cy="623574"/>
            </a:xfrm>
            <a:custGeom>
              <a:avLst/>
              <a:gdLst/>
              <a:ahLst/>
              <a:cxnLst/>
              <a:rect r="r" b="b" t="t" l="l"/>
              <a:pathLst>
                <a:path h="623574" w="809382">
                  <a:moveTo>
                    <a:pt x="0" y="0"/>
                  </a:moveTo>
                  <a:lnTo>
                    <a:pt x="809382" y="0"/>
                  </a:lnTo>
                  <a:lnTo>
                    <a:pt x="809382" y="623574"/>
                  </a:lnTo>
                  <a:lnTo>
                    <a:pt x="0" y="623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79734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0877126" y="201166"/>
              <a:ext cx="1260816" cy="824969"/>
            </a:xfrm>
            <a:custGeom>
              <a:avLst/>
              <a:gdLst/>
              <a:ahLst/>
              <a:cxnLst/>
              <a:rect r="r" b="b" t="t" l="l"/>
              <a:pathLst>
                <a:path h="824969" w="1260816">
                  <a:moveTo>
                    <a:pt x="0" y="0"/>
                  </a:moveTo>
                  <a:lnTo>
                    <a:pt x="1260816" y="0"/>
                  </a:lnTo>
                  <a:lnTo>
                    <a:pt x="1260816" y="824969"/>
                  </a:lnTo>
                  <a:lnTo>
                    <a:pt x="0" y="824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873" r="0" b="-25279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2523407" y="0"/>
              <a:ext cx="1500433" cy="998603"/>
            </a:xfrm>
            <a:custGeom>
              <a:avLst/>
              <a:gdLst/>
              <a:ahLst/>
              <a:cxnLst/>
              <a:rect r="r" b="b" t="t" l="l"/>
              <a:pathLst>
                <a:path h="998603" w="1500433">
                  <a:moveTo>
                    <a:pt x="0" y="0"/>
                  </a:moveTo>
                  <a:lnTo>
                    <a:pt x="1500432" y="0"/>
                  </a:lnTo>
                  <a:lnTo>
                    <a:pt x="1500432" y="998603"/>
                  </a:lnTo>
                  <a:lnTo>
                    <a:pt x="0" y="998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208" r="0" b="-3704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43841" y="3512722"/>
            <a:ext cx="14580108" cy="2250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Content:</a:t>
            </a:r>
          </a:p>
          <a:p>
            <a:pPr algn="l" marL="712470" indent="-356235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Screenshot or live demo of your app/system.</a:t>
            </a:r>
          </a:p>
          <a:p>
            <a:pPr algn="l" marL="712470" indent="-356235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Key functionality or user flow (brief and visual).</a:t>
            </a:r>
          </a:p>
          <a:p>
            <a:pPr algn="l" marL="712470" indent="-356235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What stage you’re at (prototype, MVP, beta, etc.).</a:t>
            </a:r>
          </a:p>
          <a:p>
            <a:pPr algn="l">
              <a:lnSpc>
                <a:spcPts val="3564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343841" y="1755903"/>
            <a:ext cx="14189373" cy="2189141"/>
            <a:chOff x="0" y="0"/>
            <a:chExt cx="19440144" cy="29992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440144" cy="2999232"/>
            </a:xfrm>
            <a:custGeom>
              <a:avLst/>
              <a:gdLst/>
              <a:ahLst/>
              <a:cxnLst/>
              <a:rect r="r" b="b" t="t" l="l"/>
              <a:pathLst>
                <a:path h="2999232" w="19440144">
                  <a:moveTo>
                    <a:pt x="0" y="0"/>
                  </a:moveTo>
                  <a:lnTo>
                    <a:pt x="19440144" y="0"/>
                  </a:lnTo>
                  <a:lnTo>
                    <a:pt x="19440144" y="2999232"/>
                  </a:lnTo>
                  <a:lnTo>
                    <a:pt x="0" y="2999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85725"/>
              <a:ext cx="19440144" cy="29135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999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Purpose: S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how proof of execution or working prototype.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974161" y="8880684"/>
            <a:ext cx="1178779" cy="1230843"/>
          </a:xfrm>
          <a:custGeom>
            <a:avLst/>
            <a:gdLst/>
            <a:ahLst/>
            <a:cxnLst/>
            <a:rect r="r" b="b" t="t" l="l"/>
            <a:pathLst>
              <a:path h="1230843" w="1178779">
                <a:moveTo>
                  <a:pt x="0" y="0"/>
                </a:moveTo>
                <a:lnTo>
                  <a:pt x="1178779" y="0"/>
                </a:lnTo>
                <a:lnTo>
                  <a:pt x="1178779" y="1230843"/>
                </a:lnTo>
                <a:lnTo>
                  <a:pt x="0" y="12308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5060" y="9343706"/>
            <a:ext cx="2806442" cy="852704"/>
          </a:xfrm>
          <a:custGeom>
            <a:avLst/>
            <a:gdLst/>
            <a:ahLst/>
            <a:cxnLst/>
            <a:rect r="r" b="b" t="t" l="l"/>
            <a:pathLst>
              <a:path h="852704" w="2806442">
                <a:moveTo>
                  <a:pt x="0" y="0"/>
                </a:moveTo>
                <a:lnTo>
                  <a:pt x="2806442" y="0"/>
                </a:lnTo>
                <a:lnTo>
                  <a:pt x="2806442" y="852703"/>
                </a:lnTo>
                <a:lnTo>
                  <a:pt x="0" y="8527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62543" y="9608133"/>
            <a:ext cx="1517067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 i="true">
                <a:solidFill>
                  <a:srgbClr val="2E2B21"/>
                </a:solidFill>
                <a:latin typeface="Clear Sans Bold Italics"/>
                <a:ea typeface="Clear Sans Bold Italics"/>
                <a:cs typeface="Clear Sans Bold Italics"/>
                <a:sym typeface="Clear Sans Bold Italics"/>
              </a:rPr>
              <a:t>Tip: Keep the visuals simple; focus on the “intelligence” in your system.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329851">
            <a:off x="442767" y="1915761"/>
            <a:ext cx="1400467" cy="0"/>
          </a:xfrm>
          <a:prstGeom prst="line">
            <a:avLst/>
          </a:prstGeom>
          <a:ln cap="rnd" w="19050">
            <a:solidFill>
              <a:srgbClr val="9CBEB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43841" y="825320"/>
            <a:ext cx="14580108" cy="2249424"/>
            <a:chOff x="0" y="0"/>
            <a:chExt cx="19440144" cy="29992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40144" cy="2999232"/>
            </a:xfrm>
            <a:custGeom>
              <a:avLst/>
              <a:gdLst/>
              <a:ahLst/>
              <a:cxnLst/>
              <a:rect r="r" b="b" t="t" l="l"/>
              <a:pathLst>
                <a:path h="2999232" w="19440144">
                  <a:moveTo>
                    <a:pt x="0" y="0"/>
                  </a:moveTo>
                  <a:lnTo>
                    <a:pt x="19440144" y="0"/>
                  </a:lnTo>
                  <a:lnTo>
                    <a:pt x="19440144" y="2999232"/>
                  </a:lnTo>
                  <a:lnTo>
                    <a:pt x="0" y="2999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4775"/>
              <a:ext cx="19440144" cy="2894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5000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Design &amp; Delivery Guidelines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5060" y="0"/>
            <a:ext cx="18017880" cy="825320"/>
            <a:chOff x="0" y="0"/>
            <a:chExt cx="24023839" cy="1100426"/>
          </a:xfrm>
        </p:grpSpPr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0">
              <a:off x="0" y="108020"/>
              <a:ext cx="4962026" cy="992406"/>
              <a:chOff x="0" y="0"/>
              <a:chExt cx="3587266" cy="717454"/>
            </a:xfrm>
          </p:grpSpPr>
          <p:sp>
            <p:nvSpPr>
              <p:cNvPr name="Freeform 8" id="8" descr="Makerere University College of Computing &amp; Information Sciences (CoCIS)"/>
              <p:cNvSpPr/>
              <p:nvPr/>
            </p:nvSpPr>
            <p:spPr>
              <a:xfrm flipH="false" flipV="false" rot="0">
                <a:off x="0" y="0"/>
                <a:ext cx="3587242" cy="717423"/>
              </a:xfrm>
              <a:custGeom>
                <a:avLst/>
                <a:gdLst/>
                <a:ahLst/>
                <a:cxnLst/>
                <a:rect r="r" b="b" t="t" l="l"/>
                <a:pathLst>
                  <a:path h="717423" w="3587242">
                    <a:moveTo>
                      <a:pt x="0" y="0"/>
                    </a:moveTo>
                    <a:lnTo>
                      <a:pt x="3587242" y="0"/>
                    </a:lnTo>
                    <a:lnTo>
                      <a:pt x="3587242" y="717423"/>
                    </a:lnTo>
                    <a:lnTo>
                      <a:pt x="0" y="71742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0" b="-4"/>
                </a:stretch>
              </a:blip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8577181" y="201166"/>
              <a:ext cx="1216262" cy="596271"/>
            </a:xfrm>
            <a:custGeom>
              <a:avLst/>
              <a:gdLst/>
              <a:ahLst/>
              <a:cxnLst/>
              <a:rect r="r" b="b" t="t" l="l"/>
              <a:pathLst>
                <a:path h="596271" w="1216262">
                  <a:moveTo>
                    <a:pt x="0" y="0"/>
                  </a:moveTo>
                  <a:lnTo>
                    <a:pt x="1216262" y="0"/>
                  </a:lnTo>
                  <a:lnTo>
                    <a:pt x="1216262" y="596271"/>
                  </a:lnTo>
                  <a:lnTo>
                    <a:pt x="0" y="596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551" r="0" b="-79426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9812079" y="227483"/>
              <a:ext cx="809382" cy="623574"/>
            </a:xfrm>
            <a:custGeom>
              <a:avLst/>
              <a:gdLst/>
              <a:ahLst/>
              <a:cxnLst/>
              <a:rect r="r" b="b" t="t" l="l"/>
              <a:pathLst>
                <a:path h="623574" w="809382">
                  <a:moveTo>
                    <a:pt x="0" y="0"/>
                  </a:moveTo>
                  <a:lnTo>
                    <a:pt x="809382" y="0"/>
                  </a:lnTo>
                  <a:lnTo>
                    <a:pt x="809382" y="623574"/>
                  </a:lnTo>
                  <a:lnTo>
                    <a:pt x="0" y="623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79734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0877126" y="201166"/>
              <a:ext cx="1260816" cy="824969"/>
            </a:xfrm>
            <a:custGeom>
              <a:avLst/>
              <a:gdLst/>
              <a:ahLst/>
              <a:cxnLst/>
              <a:rect r="r" b="b" t="t" l="l"/>
              <a:pathLst>
                <a:path h="824969" w="1260816">
                  <a:moveTo>
                    <a:pt x="0" y="0"/>
                  </a:moveTo>
                  <a:lnTo>
                    <a:pt x="1260816" y="0"/>
                  </a:lnTo>
                  <a:lnTo>
                    <a:pt x="1260816" y="824969"/>
                  </a:lnTo>
                  <a:lnTo>
                    <a:pt x="0" y="824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873" r="0" b="-25279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2523407" y="0"/>
              <a:ext cx="1500433" cy="998603"/>
            </a:xfrm>
            <a:custGeom>
              <a:avLst/>
              <a:gdLst/>
              <a:ahLst/>
              <a:cxnLst/>
              <a:rect r="r" b="b" t="t" l="l"/>
              <a:pathLst>
                <a:path h="998603" w="1500433">
                  <a:moveTo>
                    <a:pt x="0" y="0"/>
                  </a:moveTo>
                  <a:lnTo>
                    <a:pt x="1500432" y="0"/>
                  </a:lnTo>
                  <a:lnTo>
                    <a:pt x="1500432" y="998603"/>
                  </a:lnTo>
                  <a:lnTo>
                    <a:pt x="0" y="998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208" r="0" b="-3704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43841" y="3512722"/>
            <a:ext cx="14580108" cy="448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Content:</a:t>
            </a:r>
          </a:p>
          <a:p>
            <a:pPr algn="l" marL="712470" indent="-356235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Time limit: 5 minutes per team (strict).</a:t>
            </a:r>
          </a:p>
          <a:p>
            <a:pPr algn="l" marL="712470" indent="-356235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Design: Consistent theme (blue/white or your project colors).</a:t>
            </a:r>
          </a:p>
          <a:p>
            <a:pPr algn="l" marL="712470" indent="-356235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Text: Use minimal text — 5 bullet points max per slide.</a:t>
            </a:r>
          </a:p>
          <a:p>
            <a:pPr algn="l" marL="712470" indent="-356235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Fonts: Use readable sans-serif fonts (e.g., Poppins, Open Sans).</a:t>
            </a:r>
          </a:p>
          <a:p>
            <a:pPr algn="l" marL="712470" indent="-356235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Visuals: Diagrams, icons, screenshots — not paragraphs.</a:t>
            </a:r>
          </a:p>
          <a:p>
            <a:pPr algn="l" marL="712470" indent="-356235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Teamwork: 1–2 members can share the pitch roles (intro, tech, business).</a:t>
            </a:r>
          </a:p>
          <a:p>
            <a:pPr algn="l" marL="712470" indent="-356235" lvl="1">
              <a:lnSpc>
                <a:spcPts val="3564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Keep it visually appealing 🚀</a:t>
            </a:r>
          </a:p>
          <a:p>
            <a:pPr algn="l">
              <a:lnSpc>
                <a:spcPts val="3564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343841" y="1755903"/>
            <a:ext cx="14189373" cy="2189141"/>
            <a:chOff x="0" y="0"/>
            <a:chExt cx="19440144" cy="29992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440144" cy="2999232"/>
            </a:xfrm>
            <a:custGeom>
              <a:avLst/>
              <a:gdLst/>
              <a:ahLst/>
              <a:cxnLst/>
              <a:rect r="r" b="b" t="t" l="l"/>
              <a:pathLst>
                <a:path h="2999232" w="19440144">
                  <a:moveTo>
                    <a:pt x="0" y="0"/>
                  </a:moveTo>
                  <a:lnTo>
                    <a:pt x="19440144" y="0"/>
                  </a:lnTo>
                  <a:lnTo>
                    <a:pt x="19440144" y="2999232"/>
                  </a:lnTo>
                  <a:lnTo>
                    <a:pt x="0" y="2999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85725"/>
              <a:ext cx="19440144" cy="29135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999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(Please remove all Notes, tips &amp; irrelevant slides)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94150" y="8384946"/>
            <a:ext cx="873354" cy="873354"/>
          </a:xfrm>
          <a:custGeom>
            <a:avLst/>
            <a:gdLst/>
            <a:ahLst/>
            <a:cxnLst/>
            <a:rect r="r" b="b" t="t" l="l"/>
            <a:pathLst>
              <a:path h="873354" w="873354">
                <a:moveTo>
                  <a:pt x="0" y="0"/>
                </a:moveTo>
                <a:lnTo>
                  <a:pt x="873355" y="0"/>
                </a:lnTo>
                <a:lnTo>
                  <a:pt x="873355" y="873354"/>
                </a:lnTo>
                <a:lnTo>
                  <a:pt x="0" y="8733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-530965" y="8588260"/>
            <a:ext cx="1517067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</a:pPr>
            <a:r>
              <a:rPr lang="en-US" sz="3099" b="true">
                <a:solidFill>
                  <a:srgbClr val="2E2B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REMOVE ME FROM YOUR PRODUCTION SLIDES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329851">
            <a:off x="442767" y="1915761"/>
            <a:ext cx="1400467" cy="0"/>
          </a:xfrm>
          <a:prstGeom prst="line">
            <a:avLst/>
          </a:prstGeom>
          <a:ln cap="rnd" w="19050">
            <a:solidFill>
              <a:srgbClr val="9CBEB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43841" y="825320"/>
            <a:ext cx="14580108" cy="2249424"/>
            <a:chOff x="0" y="0"/>
            <a:chExt cx="19440144" cy="29992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40144" cy="2999232"/>
            </a:xfrm>
            <a:custGeom>
              <a:avLst/>
              <a:gdLst/>
              <a:ahLst/>
              <a:cxnLst/>
              <a:rect r="r" b="b" t="t" l="l"/>
              <a:pathLst>
                <a:path h="2999232" w="19440144">
                  <a:moveTo>
                    <a:pt x="0" y="0"/>
                  </a:moveTo>
                  <a:lnTo>
                    <a:pt x="19440144" y="0"/>
                  </a:lnTo>
                  <a:lnTo>
                    <a:pt x="19440144" y="2999232"/>
                  </a:lnTo>
                  <a:lnTo>
                    <a:pt x="0" y="2999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4775"/>
              <a:ext cx="19440144" cy="2894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5000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Judging Criteria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5060" y="0"/>
            <a:ext cx="18017880" cy="825320"/>
            <a:chOff x="0" y="0"/>
            <a:chExt cx="24023839" cy="1100426"/>
          </a:xfrm>
        </p:grpSpPr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0">
              <a:off x="0" y="108020"/>
              <a:ext cx="4962026" cy="992406"/>
              <a:chOff x="0" y="0"/>
              <a:chExt cx="3587266" cy="717454"/>
            </a:xfrm>
          </p:grpSpPr>
          <p:sp>
            <p:nvSpPr>
              <p:cNvPr name="Freeform 8" id="8" descr="Makerere University College of Computing &amp; Information Sciences (CoCIS)"/>
              <p:cNvSpPr/>
              <p:nvPr/>
            </p:nvSpPr>
            <p:spPr>
              <a:xfrm flipH="false" flipV="false" rot="0">
                <a:off x="0" y="0"/>
                <a:ext cx="3587242" cy="717423"/>
              </a:xfrm>
              <a:custGeom>
                <a:avLst/>
                <a:gdLst/>
                <a:ahLst/>
                <a:cxnLst/>
                <a:rect r="r" b="b" t="t" l="l"/>
                <a:pathLst>
                  <a:path h="717423" w="3587242">
                    <a:moveTo>
                      <a:pt x="0" y="0"/>
                    </a:moveTo>
                    <a:lnTo>
                      <a:pt x="3587242" y="0"/>
                    </a:lnTo>
                    <a:lnTo>
                      <a:pt x="3587242" y="717423"/>
                    </a:lnTo>
                    <a:lnTo>
                      <a:pt x="0" y="71742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0" b="-4"/>
                </a:stretch>
              </a:blip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8577181" y="201166"/>
              <a:ext cx="1216262" cy="596271"/>
            </a:xfrm>
            <a:custGeom>
              <a:avLst/>
              <a:gdLst/>
              <a:ahLst/>
              <a:cxnLst/>
              <a:rect r="r" b="b" t="t" l="l"/>
              <a:pathLst>
                <a:path h="596271" w="1216262">
                  <a:moveTo>
                    <a:pt x="0" y="0"/>
                  </a:moveTo>
                  <a:lnTo>
                    <a:pt x="1216262" y="0"/>
                  </a:lnTo>
                  <a:lnTo>
                    <a:pt x="1216262" y="596271"/>
                  </a:lnTo>
                  <a:lnTo>
                    <a:pt x="0" y="596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551" r="0" b="-79426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9812079" y="227483"/>
              <a:ext cx="809382" cy="623574"/>
            </a:xfrm>
            <a:custGeom>
              <a:avLst/>
              <a:gdLst/>
              <a:ahLst/>
              <a:cxnLst/>
              <a:rect r="r" b="b" t="t" l="l"/>
              <a:pathLst>
                <a:path h="623574" w="809382">
                  <a:moveTo>
                    <a:pt x="0" y="0"/>
                  </a:moveTo>
                  <a:lnTo>
                    <a:pt x="809382" y="0"/>
                  </a:lnTo>
                  <a:lnTo>
                    <a:pt x="809382" y="623574"/>
                  </a:lnTo>
                  <a:lnTo>
                    <a:pt x="0" y="623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79734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0877126" y="201166"/>
              <a:ext cx="1260816" cy="824969"/>
            </a:xfrm>
            <a:custGeom>
              <a:avLst/>
              <a:gdLst/>
              <a:ahLst/>
              <a:cxnLst/>
              <a:rect r="r" b="b" t="t" l="l"/>
              <a:pathLst>
                <a:path h="824969" w="1260816">
                  <a:moveTo>
                    <a:pt x="0" y="0"/>
                  </a:moveTo>
                  <a:lnTo>
                    <a:pt x="1260816" y="0"/>
                  </a:lnTo>
                  <a:lnTo>
                    <a:pt x="1260816" y="824969"/>
                  </a:lnTo>
                  <a:lnTo>
                    <a:pt x="0" y="824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873" r="0" b="-25279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2523407" y="0"/>
              <a:ext cx="1500433" cy="998603"/>
            </a:xfrm>
            <a:custGeom>
              <a:avLst/>
              <a:gdLst/>
              <a:ahLst/>
              <a:cxnLst/>
              <a:rect r="r" b="b" t="t" l="l"/>
              <a:pathLst>
                <a:path h="998603" w="1500433">
                  <a:moveTo>
                    <a:pt x="0" y="0"/>
                  </a:moveTo>
                  <a:lnTo>
                    <a:pt x="1500432" y="0"/>
                  </a:lnTo>
                  <a:lnTo>
                    <a:pt x="1500432" y="998603"/>
                  </a:lnTo>
                  <a:lnTo>
                    <a:pt x="0" y="998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208" r="0" b="-3704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43841" y="1755903"/>
            <a:ext cx="14189373" cy="2189141"/>
            <a:chOff x="0" y="0"/>
            <a:chExt cx="19440144" cy="29992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440144" cy="2999232"/>
            </a:xfrm>
            <a:custGeom>
              <a:avLst/>
              <a:gdLst/>
              <a:ahLst/>
              <a:cxnLst/>
              <a:rect r="r" b="b" t="t" l="l"/>
              <a:pathLst>
                <a:path h="2999232" w="19440144">
                  <a:moveTo>
                    <a:pt x="0" y="0"/>
                  </a:moveTo>
                  <a:lnTo>
                    <a:pt x="19440144" y="0"/>
                  </a:lnTo>
                  <a:lnTo>
                    <a:pt x="19440144" y="2999232"/>
                  </a:lnTo>
                  <a:lnTo>
                    <a:pt x="0" y="2999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19440144" cy="29135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999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Purpose: </a:t>
              </a:r>
              <a:r>
                <a:rPr lang="en-US" sz="39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End strong with your next steps.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69050" y="8583720"/>
            <a:ext cx="873354" cy="873354"/>
          </a:xfrm>
          <a:custGeom>
            <a:avLst/>
            <a:gdLst/>
            <a:ahLst/>
            <a:cxnLst/>
            <a:rect r="r" b="b" t="t" l="l"/>
            <a:pathLst>
              <a:path h="873354" w="873354">
                <a:moveTo>
                  <a:pt x="0" y="0"/>
                </a:moveTo>
                <a:lnTo>
                  <a:pt x="873354" y="0"/>
                </a:lnTo>
                <a:lnTo>
                  <a:pt x="873354" y="873354"/>
                </a:lnTo>
                <a:lnTo>
                  <a:pt x="0" y="8733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7" id="17"/>
          <p:cNvGraphicFramePr/>
          <p:nvPr/>
        </p:nvGraphicFramePr>
        <p:xfrm>
          <a:off x="1343841" y="3945045"/>
          <a:ext cx="3771900" cy="3771900"/>
        </p:xfrm>
        <a:graphic>
          <a:graphicData uri="http://schemas.openxmlformats.org/presentationml/2006/ole">
            <p:oleObj imgW="4521200" imgH="45212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-1093716" y="8787034"/>
            <a:ext cx="1517067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</a:pPr>
            <a:r>
              <a:rPr lang="en-US" sz="3099" b="true">
                <a:solidFill>
                  <a:srgbClr val="2E2B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REMOVE ME FROM YOUR PRODUCTION SLIDES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329851">
            <a:off x="442767" y="1915761"/>
            <a:ext cx="1400467" cy="0"/>
          </a:xfrm>
          <a:prstGeom prst="line">
            <a:avLst/>
          </a:prstGeom>
          <a:ln cap="rnd" w="19050">
            <a:solidFill>
              <a:srgbClr val="9CBEB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536192" y="877824"/>
            <a:ext cx="14580108" cy="2249424"/>
            <a:chOff x="0" y="0"/>
            <a:chExt cx="19440144" cy="29992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40144" cy="2999232"/>
            </a:xfrm>
            <a:custGeom>
              <a:avLst/>
              <a:gdLst/>
              <a:ahLst/>
              <a:cxnLst/>
              <a:rect r="r" b="b" t="t" l="l"/>
              <a:pathLst>
                <a:path h="2999232" w="19440144">
                  <a:moveTo>
                    <a:pt x="0" y="0"/>
                  </a:moveTo>
                  <a:lnTo>
                    <a:pt x="19440144" y="0"/>
                  </a:lnTo>
                  <a:lnTo>
                    <a:pt x="19440144" y="2999232"/>
                  </a:lnTo>
                  <a:lnTo>
                    <a:pt x="0" y="2999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61925"/>
              <a:ext cx="19440144" cy="2837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7500" spc="164">
                  <a:solidFill>
                    <a:srgbClr val="474233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Thank You!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81912" y="3512820"/>
            <a:ext cx="14488666" cy="907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217" indent="-298609" lvl="1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2E2B21"/>
                </a:solidFill>
                <a:latin typeface="Clear Sans"/>
                <a:ea typeface="Clear Sans"/>
                <a:cs typeface="Clear Sans"/>
                <a:sym typeface="Clear Sans"/>
              </a:rPr>
              <a:t>Open the floor for questions.</a:t>
            </a:r>
          </a:p>
          <a:p>
            <a:pPr algn="l" marL="597217" indent="-298609" lvl="1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2E2B21"/>
                </a:solidFill>
                <a:latin typeface="Clear Sans"/>
                <a:ea typeface="Clear Sans"/>
                <a:cs typeface="Clear Sans"/>
                <a:sym typeface="Clear Sans"/>
              </a:rPr>
              <a:t>Include contact detailsor socials if relevant.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5060" y="0"/>
            <a:ext cx="18017880" cy="825320"/>
            <a:chOff x="0" y="0"/>
            <a:chExt cx="24023839" cy="1100426"/>
          </a:xfrm>
        </p:grpSpPr>
        <p:grpSp>
          <p:nvGrpSpPr>
            <p:cNvPr name="Group 8" id="8"/>
            <p:cNvGrpSpPr>
              <a:grpSpLocks noChangeAspect="true"/>
            </p:cNvGrpSpPr>
            <p:nvPr/>
          </p:nvGrpSpPr>
          <p:grpSpPr>
            <a:xfrm rot="0">
              <a:off x="0" y="108020"/>
              <a:ext cx="4962026" cy="992406"/>
              <a:chOff x="0" y="0"/>
              <a:chExt cx="3587266" cy="717454"/>
            </a:xfrm>
          </p:grpSpPr>
          <p:sp>
            <p:nvSpPr>
              <p:cNvPr name="Freeform 9" id="9" descr="Makerere University College of Computing &amp; Information Sciences (CoCIS)"/>
              <p:cNvSpPr/>
              <p:nvPr/>
            </p:nvSpPr>
            <p:spPr>
              <a:xfrm flipH="false" flipV="false" rot="0">
                <a:off x="0" y="0"/>
                <a:ext cx="3587242" cy="717423"/>
              </a:xfrm>
              <a:custGeom>
                <a:avLst/>
                <a:gdLst/>
                <a:ahLst/>
                <a:cxnLst/>
                <a:rect r="r" b="b" t="t" l="l"/>
                <a:pathLst>
                  <a:path h="717423" w="3587242">
                    <a:moveTo>
                      <a:pt x="0" y="0"/>
                    </a:moveTo>
                    <a:lnTo>
                      <a:pt x="3587242" y="0"/>
                    </a:lnTo>
                    <a:lnTo>
                      <a:pt x="3587242" y="717423"/>
                    </a:lnTo>
                    <a:lnTo>
                      <a:pt x="0" y="71742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0" b="-4"/>
                </a:stretch>
              </a:blip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18577181" y="201166"/>
              <a:ext cx="1216262" cy="596271"/>
            </a:xfrm>
            <a:custGeom>
              <a:avLst/>
              <a:gdLst/>
              <a:ahLst/>
              <a:cxnLst/>
              <a:rect r="r" b="b" t="t" l="l"/>
              <a:pathLst>
                <a:path h="596271" w="1216262">
                  <a:moveTo>
                    <a:pt x="0" y="0"/>
                  </a:moveTo>
                  <a:lnTo>
                    <a:pt x="1216262" y="0"/>
                  </a:lnTo>
                  <a:lnTo>
                    <a:pt x="1216262" y="596271"/>
                  </a:lnTo>
                  <a:lnTo>
                    <a:pt x="0" y="596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551" r="0" b="-79426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9812079" y="227483"/>
              <a:ext cx="809382" cy="623574"/>
            </a:xfrm>
            <a:custGeom>
              <a:avLst/>
              <a:gdLst/>
              <a:ahLst/>
              <a:cxnLst/>
              <a:rect r="r" b="b" t="t" l="l"/>
              <a:pathLst>
                <a:path h="623574" w="809382">
                  <a:moveTo>
                    <a:pt x="0" y="0"/>
                  </a:moveTo>
                  <a:lnTo>
                    <a:pt x="809382" y="0"/>
                  </a:lnTo>
                  <a:lnTo>
                    <a:pt x="809382" y="623574"/>
                  </a:lnTo>
                  <a:lnTo>
                    <a:pt x="0" y="623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79734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0877126" y="201166"/>
              <a:ext cx="1260816" cy="824969"/>
            </a:xfrm>
            <a:custGeom>
              <a:avLst/>
              <a:gdLst/>
              <a:ahLst/>
              <a:cxnLst/>
              <a:rect r="r" b="b" t="t" l="l"/>
              <a:pathLst>
                <a:path h="824969" w="1260816">
                  <a:moveTo>
                    <a:pt x="0" y="0"/>
                  </a:moveTo>
                  <a:lnTo>
                    <a:pt x="1260816" y="0"/>
                  </a:lnTo>
                  <a:lnTo>
                    <a:pt x="1260816" y="824969"/>
                  </a:lnTo>
                  <a:lnTo>
                    <a:pt x="0" y="824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873" r="0" b="-25279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2523407" y="0"/>
              <a:ext cx="1500433" cy="998603"/>
            </a:xfrm>
            <a:custGeom>
              <a:avLst/>
              <a:gdLst/>
              <a:ahLst/>
              <a:cxnLst/>
              <a:rect r="r" b="b" t="t" l="l"/>
              <a:pathLst>
                <a:path h="998603" w="1500433">
                  <a:moveTo>
                    <a:pt x="0" y="0"/>
                  </a:moveTo>
                  <a:lnTo>
                    <a:pt x="1500432" y="0"/>
                  </a:lnTo>
                  <a:lnTo>
                    <a:pt x="1500432" y="998603"/>
                  </a:lnTo>
                  <a:lnTo>
                    <a:pt x="0" y="998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208" r="0" b="-37044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6974161" y="8880684"/>
            <a:ext cx="1178779" cy="1230843"/>
          </a:xfrm>
          <a:custGeom>
            <a:avLst/>
            <a:gdLst/>
            <a:ahLst/>
            <a:cxnLst/>
            <a:rect r="r" b="b" t="t" l="l"/>
            <a:pathLst>
              <a:path h="1230843" w="1178779">
                <a:moveTo>
                  <a:pt x="0" y="0"/>
                </a:moveTo>
                <a:lnTo>
                  <a:pt x="1178779" y="0"/>
                </a:lnTo>
                <a:lnTo>
                  <a:pt x="1178779" y="1230843"/>
                </a:lnTo>
                <a:lnTo>
                  <a:pt x="0" y="12308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DAG32chBark</dc:identifier>
  <dcterms:modified xsi:type="dcterms:W3CDTF">2011-08-01T06:04:30Z</dcterms:modified>
  <cp:revision>1</cp:revision>
  <dc:title>Software Pitching Template</dc:title>
</cp:coreProperties>
</file>